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IQR Validation Platform — the human surface for the agentic SOX 404 validation system. Six screens, one connected web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landing surface — one row per control-period with its verdict, citation count, gaps and rollout mode. Filter by control, verdict or period; click a row to open the console.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hero screen — one control end to end. Left: the governed pipeline. Center: a cited agent reasoning log, including the GMT/CDT timestamp check and the honest checklist gap. Right: the per-check ledger.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Executor returned PASS; the blinded verifier — which sees only the finding, plan clause and cited evidence, never the reasoning — returned FAIL on a screenshot tie-out. The reviewer adjudicates and every decision is logged.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Design-time. The SME reviews the Validation Plan the compiler drafted — expected-evidence register, ordered checks with types and tolerances, scope exclusions and the SoD sign-off rule — and freezes it at a version. Runtime never re-decides which checks to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downloadable output. Per-check validated result, an auto-completed reviewer checklist, an explicit gaps-and-observations register, artifact links, and a citation list where every locator resolves against the evidence graph — assembled into one .zip.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GRC package unpacked into an addressable tree. Every leaf is SHA-256 hashed; nesting reaches email to zip to workbook to embedded screenshot, four levels deep. A citation resolves only if its locator points to a real node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2438"/>
          </a:solidFill>
          <a:ln/>
        </p:spPr>
      </p:sp>
      <p:sp>
        <p:nvSpPr>
          <p:cNvPr id="3" name="Shape 1"/>
          <p:cNvSpPr/>
          <p:nvPr/>
        </p:nvSpPr>
        <p:spPr>
          <a:xfrm>
            <a:off x="990600" y="914400"/>
            <a:ext cx="571500" cy="571500"/>
          </a:xfrm>
          <a:prstGeom prst="roundRect">
            <a:avLst>
              <a:gd name="adj" fmla="val 23333"/>
            </a:avLst>
          </a:prstGeom>
          <a:solidFill>
            <a:srgbClr val="0096D6"/>
          </a:solidFill>
          <a:ln/>
        </p:spPr>
      </p:sp>
      <p:sp>
        <p:nvSpPr>
          <p:cNvPr id="4" name="Text 2"/>
          <p:cNvSpPr/>
          <p:nvPr/>
        </p:nvSpPr>
        <p:spPr>
          <a:xfrm>
            <a:off x="952500" y="91440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IQR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752600" y="1090613"/>
            <a:ext cx="462958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spc="81" kern="0" dirty="0">
                <a:solidFill>
                  <a:srgbClr val="9CC4D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Platform · Controls &amp; Compliance Hub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90600" y="3758059"/>
            <a:ext cx="1793748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314" kern="0" dirty="0">
                <a:solidFill>
                  <a:srgbClr val="4FA8D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INTERFACE DESIGNS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990600" y="4177159"/>
            <a:ext cx="13735050" cy="166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701"/>
              </a:lnSpc>
              <a:buNone/>
            </a:pPr>
            <a:r>
              <a:rPr lang="en-US" sz="61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Validating every SOX 404 control — with a citation for every claim</a:t>
            </a:r>
            <a:endParaRPr lang="en-US" sz="6150" dirty="0"/>
          </a:p>
        </p:txBody>
      </p:sp>
      <p:sp>
        <p:nvSpPr>
          <p:cNvPr id="8" name="Text 6"/>
          <p:cNvSpPr/>
          <p:nvPr/>
        </p:nvSpPr>
        <p:spPr>
          <a:xfrm>
            <a:off x="990600" y="6049119"/>
            <a:ext cx="11576685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882"/>
              </a:lnSpc>
              <a:buNone/>
            </a:pPr>
            <a:r>
              <a:rPr lang="en-US" sz="1950" dirty="0">
                <a:solidFill>
                  <a:srgbClr val="B7CF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reviewer's web app: runs dashboard, validation console, exception review, plan approval, the audit-ready pack, and the evidence graph.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990600" y="9039225"/>
            <a:ext cx="904875" cy="333375"/>
          </a:xfrm>
          <a:prstGeom prst="roundRect">
            <a:avLst>
              <a:gd name="adj" fmla="val 50000"/>
            </a:avLst>
          </a:prstGeom>
          <a:solidFill>
            <a:srgbClr val="4FA8D8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9115425"/>
            <a:ext cx="67627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0B243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Runs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2009775" y="9039225"/>
            <a:ext cx="1162050" cy="333375"/>
          </a:xfrm>
          <a:prstGeom prst="roundRect">
            <a:avLst>
              <a:gd name="adj" fmla="val 50000"/>
            </a:avLst>
          </a:prstGeom>
          <a:solidFill>
            <a:srgbClr val="14344C"/>
          </a:solidFill>
          <a:ln/>
        </p:spPr>
      </p:sp>
      <p:sp>
        <p:nvSpPr>
          <p:cNvPr id="12" name="Text 10"/>
          <p:cNvSpPr/>
          <p:nvPr/>
        </p:nvSpPr>
        <p:spPr>
          <a:xfrm>
            <a:off x="2162175" y="9115425"/>
            <a:ext cx="93345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CFE4F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Console</a:t>
            </a:r>
            <a:endParaRPr lang="en-US" sz="1125" dirty="0"/>
          </a:p>
        </p:txBody>
      </p:sp>
      <p:sp>
        <p:nvSpPr>
          <p:cNvPr id="13" name="Shape 11"/>
          <p:cNvSpPr/>
          <p:nvPr/>
        </p:nvSpPr>
        <p:spPr>
          <a:xfrm>
            <a:off x="3286125" y="9039225"/>
            <a:ext cx="1419225" cy="333375"/>
          </a:xfrm>
          <a:prstGeom prst="roundRect">
            <a:avLst>
              <a:gd name="adj" fmla="val 50000"/>
            </a:avLst>
          </a:prstGeom>
          <a:solidFill>
            <a:srgbClr val="14344C"/>
          </a:solidFill>
          <a:ln/>
        </p:spPr>
      </p:sp>
      <p:sp>
        <p:nvSpPr>
          <p:cNvPr id="14" name="Text 12"/>
          <p:cNvSpPr/>
          <p:nvPr/>
        </p:nvSpPr>
        <p:spPr>
          <a:xfrm>
            <a:off x="3438525" y="9115425"/>
            <a:ext cx="119062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CFE4F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Exceptions</a:t>
            </a:r>
            <a:endParaRPr lang="en-US" sz="1125" dirty="0"/>
          </a:p>
        </p:txBody>
      </p:sp>
      <p:sp>
        <p:nvSpPr>
          <p:cNvPr id="15" name="Shape 13"/>
          <p:cNvSpPr/>
          <p:nvPr/>
        </p:nvSpPr>
        <p:spPr>
          <a:xfrm>
            <a:off x="4819650" y="9039225"/>
            <a:ext cx="904875" cy="333375"/>
          </a:xfrm>
          <a:prstGeom prst="roundRect">
            <a:avLst>
              <a:gd name="adj" fmla="val 50000"/>
            </a:avLst>
          </a:prstGeom>
          <a:solidFill>
            <a:srgbClr val="14344C"/>
          </a:solidFill>
          <a:ln/>
        </p:spPr>
      </p:sp>
      <p:sp>
        <p:nvSpPr>
          <p:cNvPr id="16" name="Text 14"/>
          <p:cNvSpPr/>
          <p:nvPr/>
        </p:nvSpPr>
        <p:spPr>
          <a:xfrm>
            <a:off x="4972050" y="9115425"/>
            <a:ext cx="67627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CFE4F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Plan</a:t>
            </a:r>
            <a:endParaRPr lang="en-US" sz="1125" dirty="0"/>
          </a:p>
        </p:txBody>
      </p:sp>
      <p:sp>
        <p:nvSpPr>
          <p:cNvPr id="17" name="Shape 15"/>
          <p:cNvSpPr/>
          <p:nvPr/>
        </p:nvSpPr>
        <p:spPr>
          <a:xfrm>
            <a:off x="5838825" y="9039225"/>
            <a:ext cx="904875" cy="333375"/>
          </a:xfrm>
          <a:prstGeom prst="roundRect">
            <a:avLst>
              <a:gd name="adj" fmla="val 50000"/>
            </a:avLst>
          </a:prstGeom>
          <a:solidFill>
            <a:srgbClr val="14344C"/>
          </a:solidFill>
          <a:ln/>
        </p:spPr>
      </p:sp>
      <p:sp>
        <p:nvSpPr>
          <p:cNvPr id="18" name="Text 16"/>
          <p:cNvSpPr/>
          <p:nvPr/>
        </p:nvSpPr>
        <p:spPr>
          <a:xfrm>
            <a:off x="5991225" y="9115425"/>
            <a:ext cx="67627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CFE4F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Pack</a:t>
            </a:r>
            <a:endParaRPr lang="en-US" sz="1125" dirty="0"/>
          </a:p>
        </p:txBody>
      </p:sp>
      <p:sp>
        <p:nvSpPr>
          <p:cNvPr id="19" name="Shape 17"/>
          <p:cNvSpPr/>
          <p:nvPr/>
        </p:nvSpPr>
        <p:spPr>
          <a:xfrm>
            <a:off x="6858000" y="9039225"/>
            <a:ext cx="1247775" cy="333375"/>
          </a:xfrm>
          <a:prstGeom prst="roundRect">
            <a:avLst>
              <a:gd name="adj" fmla="val 50000"/>
            </a:avLst>
          </a:prstGeom>
          <a:solidFill>
            <a:srgbClr val="14344C"/>
          </a:solidFill>
          <a:ln/>
        </p:spPr>
      </p:sp>
      <p:sp>
        <p:nvSpPr>
          <p:cNvPr id="20" name="Text 18"/>
          <p:cNvSpPr/>
          <p:nvPr/>
        </p:nvSpPr>
        <p:spPr>
          <a:xfrm>
            <a:off x="7010400" y="9115425"/>
            <a:ext cx="101917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CFE4F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Evidence</a:t>
            </a:r>
            <a:endParaRPr lang="en-US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AEEF3"/>
          </a:solidFill>
          <a:ln/>
        </p:spPr>
      </p:sp>
      <p:sp>
        <p:nvSpPr>
          <p:cNvPr id="3" name="Shape 1"/>
          <p:cNvSpPr/>
          <p:nvPr/>
        </p:nvSpPr>
        <p:spPr>
          <a:xfrm>
            <a:off x="609600" y="49530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0096D6"/>
          </a:solidFill>
          <a:ln/>
        </p:spPr>
      </p:sp>
      <p:sp>
        <p:nvSpPr>
          <p:cNvPr id="4" name="Text 2"/>
          <p:cNvSpPr/>
          <p:nvPr/>
        </p:nvSpPr>
        <p:spPr>
          <a:xfrm>
            <a:off x="571500" y="495300"/>
            <a:ext cx="5524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IQR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1257300" y="495300"/>
            <a:ext cx="812055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0079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SCREEN 01 · RUNS DASHBOARD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57300" y="714375"/>
            <a:ext cx="8120554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1223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row per control-period, one verdict at a glance</a:t>
            </a:r>
            <a:endParaRPr lang="en-US" sz="2475" dirty="0"/>
          </a:p>
        </p:txBody>
      </p:sp>
      <p:sp>
        <p:nvSpPr>
          <p:cNvPr id="7" name="Text 5"/>
          <p:cNvSpPr/>
          <p:nvPr/>
        </p:nvSpPr>
        <p:spPr>
          <a:xfrm>
            <a:off x="1257300" y="1181100"/>
            <a:ext cx="812055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C6F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Filter by control, verdict or period; open any run straight into the validation console.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5966579" y="552450"/>
            <a:ext cx="1788021" cy="2095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05" kern="0" dirty="0">
                <a:solidFill>
                  <a:srgbClr val="8798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PLATFORM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982391" y="1628775"/>
            <a:ext cx="14323219" cy="8124676"/>
          </a:xfrm>
          <a:prstGeom prst="roundRect">
            <a:avLst>
              <a:gd name="adj" fmla="val 1641"/>
            </a:avLst>
          </a:prstGeom>
          <a:ln w="9525">
            <a:solidFill>
              <a:srgbClr val="D4DDE7"/>
            </a:solidFill>
            <a:prstDash val="solid"/>
          </a:ln>
          <a:effectLst>
            <a:outerShdw sx="100000" sy="100000" kx="0" ky="0" algn="bl" rotWithShape="0" blurRad="609600" dist="247650" dir="5400000">
              <a:srgbClr val="12233B">
                <a:alpha val="34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-6499" r="-6499" t="0" b="0"/>
          <a:stretch/>
        </p:blipFill>
        <p:spPr>
          <a:xfrm>
            <a:off x="1982391" y="1628775"/>
            <a:ext cx="14323219" cy="81246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AEEF3"/>
          </a:solidFill>
          <a:ln/>
        </p:spPr>
      </p:sp>
      <p:sp>
        <p:nvSpPr>
          <p:cNvPr id="3" name="Shape 1"/>
          <p:cNvSpPr/>
          <p:nvPr/>
        </p:nvSpPr>
        <p:spPr>
          <a:xfrm>
            <a:off x="609600" y="49530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0096D6"/>
          </a:solidFill>
          <a:ln/>
        </p:spPr>
      </p:sp>
      <p:sp>
        <p:nvSpPr>
          <p:cNvPr id="4" name="Text 2"/>
          <p:cNvSpPr/>
          <p:nvPr/>
        </p:nvSpPr>
        <p:spPr>
          <a:xfrm>
            <a:off x="571500" y="495300"/>
            <a:ext cx="5524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IQR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1257300" y="495300"/>
            <a:ext cx="826658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0079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SCREEN 02 · VALIDATION CONSOLE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57300" y="714375"/>
            <a:ext cx="8266584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1223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Evidence in, agents reason, audit-ready pack out</a:t>
            </a:r>
            <a:endParaRPr lang="en-US" sz="2475" dirty="0"/>
          </a:p>
        </p:txBody>
      </p:sp>
      <p:sp>
        <p:nvSpPr>
          <p:cNvPr id="7" name="Text 5"/>
          <p:cNvSpPr/>
          <p:nvPr/>
        </p:nvSpPr>
        <p:spPr>
          <a:xfrm>
            <a:off x="1257300" y="1181100"/>
            <a:ext cx="826658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C6F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governed pipeline, a cited reasoning log, and the per-check ledger — control 10032, Jul 2026.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5966579" y="552450"/>
            <a:ext cx="1788021" cy="2095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05" kern="0" dirty="0">
                <a:solidFill>
                  <a:srgbClr val="8798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PLATFORM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11512" y="1628775"/>
            <a:ext cx="12664976" cy="8124676"/>
          </a:xfrm>
          <a:prstGeom prst="roundRect">
            <a:avLst>
              <a:gd name="adj" fmla="val 1641"/>
            </a:avLst>
          </a:prstGeom>
          <a:ln w="9525">
            <a:solidFill>
              <a:srgbClr val="D4DDE7"/>
            </a:solidFill>
            <a:prstDash val="solid"/>
          </a:ln>
          <a:effectLst>
            <a:outerShdw sx="100000" sy="100000" kx="0" ky="0" algn="bl" rotWithShape="0" blurRad="609600" dist="247650" dir="5400000">
              <a:srgbClr val="12233B">
                <a:alpha val="34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2" b="-42"/>
          <a:stretch/>
        </p:blipFill>
        <p:spPr>
          <a:xfrm>
            <a:off x="2811512" y="1628775"/>
            <a:ext cx="12664976" cy="81246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AEEF3"/>
          </a:solidFill>
          <a:ln/>
        </p:spPr>
      </p:sp>
      <p:sp>
        <p:nvSpPr>
          <p:cNvPr id="3" name="Shape 1"/>
          <p:cNvSpPr/>
          <p:nvPr/>
        </p:nvSpPr>
        <p:spPr>
          <a:xfrm>
            <a:off x="609600" y="49530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0096D6"/>
          </a:solidFill>
          <a:ln/>
        </p:spPr>
      </p:sp>
      <p:sp>
        <p:nvSpPr>
          <p:cNvPr id="4" name="Text 2"/>
          <p:cNvSpPr/>
          <p:nvPr/>
        </p:nvSpPr>
        <p:spPr>
          <a:xfrm>
            <a:off x="571500" y="495300"/>
            <a:ext cx="5524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IQR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1257300" y="495300"/>
            <a:ext cx="1011553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0079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SCREEN 03 · EXCEPTION REVIEW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57300" y="714375"/>
            <a:ext cx="1011553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1223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critic never sees the reasoning — only the evidence</a:t>
            </a:r>
            <a:endParaRPr lang="en-US" sz="2475" dirty="0"/>
          </a:p>
        </p:txBody>
      </p:sp>
      <p:sp>
        <p:nvSpPr>
          <p:cNvPr id="7" name="Text 5"/>
          <p:cNvSpPr/>
          <p:nvPr/>
        </p:nvSpPr>
        <p:spPr>
          <a:xfrm>
            <a:off x="1257300" y="1181100"/>
            <a:ext cx="1011553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C6F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Executor PASS vs blinded verifier FAIL on a screenshot tie-out. You adjudicate; the decision is logged to the audit ledger.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5966579" y="552450"/>
            <a:ext cx="1788021" cy="2095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05" kern="0" dirty="0">
                <a:solidFill>
                  <a:srgbClr val="8798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PLATFORM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9600" y="1857375"/>
            <a:ext cx="17068800" cy="7667625"/>
          </a:xfrm>
          <a:prstGeom prst="roundRect">
            <a:avLst>
              <a:gd name="adj" fmla="val 1739"/>
            </a:avLst>
          </a:prstGeom>
          <a:ln w="9525">
            <a:solidFill>
              <a:srgbClr val="D4DDE7"/>
            </a:solidFill>
            <a:prstDash val="solid"/>
          </a:ln>
          <a:effectLst>
            <a:outerShdw sx="100000" sy="100000" kx="0" ky="0" algn="bl" rotWithShape="0" blurRad="609600" dist="247650" dir="5400000">
              <a:srgbClr val="12233B">
                <a:alpha val="34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68" b="-68"/>
          <a:stretch/>
        </p:blipFill>
        <p:spPr>
          <a:xfrm>
            <a:off x="609600" y="1857375"/>
            <a:ext cx="17068800" cy="76676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AEEF3"/>
          </a:solidFill>
          <a:ln/>
        </p:spPr>
      </p:sp>
      <p:sp>
        <p:nvSpPr>
          <p:cNvPr id="3" name="Shape 1"/>
          <p:cNvSpPr/>
          <p:nvPr/>
        </p:nvSpPr>
        <p:spPr>
          <a:xfrm>
            <a:off x="609600" y="49530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0096D6"/>
          </a:solidFill>
          <a:ln/>
        </p:spPr>
      </p:sp>
      <p:sp>
        <p:nvSpPr>
          <p:cNvPr id="4" name="Text 2"/>
          <p:cNvSpPr/>
          <p:nvPr/>
        </p:nvSpPr>
        <p:spPr>
          <a:xfrm>
            <a:off x="571500" y="495300"/>
            <a:ext cx="5524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IQR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1257300" y="495300"/>
            <a:ext cx="1169158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0079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SCREEN 04 · PLAN APPROVAL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57300" y="714375"/>
            <a:ext cx="1169158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1223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SME freezes the plan before runtime touches it</a:t>
            </a:r>
            <a:endParaRPr lang="en-US" sz="2475" dirty="0"/>
          </a:p>
        </p:txBody>
      </p:sp>
      <p:sp>
        <p:nvSpPr>
          <p:cNvPr id="7" name="Text 5"/>
          <p:cNvSpPr/>
          <p:nvPr/>
        </p:nvSpPr>
        <p:spPr>
          <a:xfrm>
            <a:off x="1257300" y="1181100"/>
            <a:ext cx="1169158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C6F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Expected-evidence register, ordered checks, scope exclusions and the SoD rule — reviewed, approved, versioned. Rebate control RBT-204.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5966579" y="552450"/>
            <a:ext cx="1788021" cy="2095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05" kern="0" dirty="0">
                <a:solidFill>
                  <a:srgbClr val="8798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PLATFORM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13100" y="1628775"/>
            <a:ext cx="11061799" cy="8124676"/>
          </a:xfrm>
          <a:prstGeom prst="roundRect">
            <a:avLst>
              <a:gd name="adj" fmla="val 1641"/>
            </a:avLst>
          </a:prstGeom>
          <a:ln w="9525">
            <a:solidFill>
              <a:srgbClr val="D4DDE7"/>
            </a:solidFill>
            <a:prstDash val="solid"/>
          </a:ln>
          <a:effectLst>
            <a:outerShdw sx="100000" sy="100000" kx="0" ky="0" algn="bl" rotWithShape="0" blurRad="609600" dist="247650" dir="5400000">
              <a:srgbClr val="12233B">
                <a:alpha val="34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7294" b="-7294"/>
          <a:stretch/>
        </p:blipFill>
        <p:spPr>
          <a:xfrm>
            <a:off x="3613100" y="1628775"/>
            <a:ext cx="11061799" cy="81246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AEEF3"/>
          </a:solidFill>
          <a:ln/>
        </p:spPr>
      </p:sp>
      <p:sp>
        <p:nvSpPr>
          <p:cNvPr id="3" name="Shape 1"/>
          <p:cNvSpPr/>
          <p:nvPr/>
        </p:nvSpPr>
        <p:spPr>
          <a:xfrm>
            <a:off x="609600" y="49530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0096D6"/>
          </a:solidFill>
          <a:ln/>
        </p:spPr>
      </p:sp>
      <p:sp>
        <p:nvSpPr>
          <p:cNvPr id="4" name="Text 2"/>
          <p:cNvSpPr/>
          <p:nvPr/>
        </p:nvSpPr>
        <p:spPr>
          <a:xfrm>
            <a:off x="571500" y="495300"/>
            <a:ext cx="5524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IQR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1257300" y="495300"/>
            <a:ext cx="1026582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0079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SCREEN 05 · AUDIT-READY PACK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57300" y="714375"/>
            <a:ext cx="1026582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1223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claim resolves to an exact locator</a:t>
            </a:r>
            <a:endParaRPr lang="en-US" sz="2475" dirty="0"/>
          </a:p>
        </p:txBody>
      </p:sp>
      <p:sp>
        <p:nvSpPr>
          <p:cNvPr id="7" name="Text 5"/>
          <p:cNvSpPr/>
          <p:nvPr/>
        </p:nvSpPr>
        <p:spPr>
          <a:xfrm>
            <a:off x="1257300" y="1181100"/>
            <a:ext cx="1026582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C6F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Per-check output, auto-completed checklist, an explicit gaps register, artifact links and citations — one downloadable .zip.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5966579" y="552450"/>
            <a:ext cx="1788021" cy="2095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05" kern="0" dirty="0">
                <a:solidFill>
                  <a:srgbClr val="8798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PLATFORM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997547" y="1628775"/>
            <a:ext cx="12292757" cy="8124676"/>
          </a:xfrm>
          <a:prstGeom prst="roundRect">
            <a:avLst>
              <a:gd name="adj" fmla="val 1641"/>
            </a:avLst>
          </a:prstGeom>
          <a:ln w="9525">
            <a:solidFill>
              <a:srgbClr val="D4DDE7"/>
            </a:solidFill>
            <a:prstDash val="solid"/>
          </a:ln>
          <a:effectLst>
            <a:outerShdw sx="100000" sy="100000" kx="0" ky="0" algn="bl" rotWithShape="0" blurRad="609600" dist="247650" dir="5400000">
              <a:srgbClr val="12233B">
                <a:alpha val="34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39" b="-39"/>
          <a:stretch/>
        </p:blipFill>
        <p:spPr>
          <a:xfrm>
            <a:off x="2997547" y="1628775"/>
            <a:ext cx="12292757" cy="81246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AEEF3"/>
          </a:solidFill>
          <a:ln/>
        </p:spPr>
      </p:sp>
      <p:sp>
        <p:nvSpPr>
          <p:cNvPr id="3" name="Shape 1"/>
          <p:cNvSpPr/>
          <p:nvPr/>
        </p:nvSpPr>
        <p:spPr>
          <a:xfrm>
            <a:off x="609600" y="495300"/>
            <a:ext cx="476250" cy="476250"/>
          </a:xfrm>
          <a:prstGeom prst="roundRect">
            <a:avLst>
              <a:gd name="adj" fmla="val 24000"/>
            </a:avLst>
          </a:prstGeom>
          <a:solidFill>
            <a:srgbClr val="0096D6"/>
          </a:solidFill>
          <a:ln/>
        </p:spPr>
      </p:sp>
      <p:sp>
        <p:nvSpPr>
          <p:cNvPr id="4" name="Text 2"/>
          <p:cNvSpPr/>
          <p:nvPr/>
        </p:nvSpPr>
        <p:spPr>
          <a:xfrm>
            <a:off x="571500" y="495300"/>
            <a:ext cx="5524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IQR</a:t>
            </a:r>
            <a:endParaRPr lang="en-US" sz="1275" dirty="0"/>
          </a:p>
        </p:txBody>
      </p:sp>
      <p:sp>
        <p:nvSpPr>
          <p:cNvPr id="5" name="Text 3"/>
          <p:cNvSpPr/>
          <p:nvPr/>
        </p:nvSpPr>
        <p:spPr>
          <a:xfrm>
            <a:off x="1257300" y="495300"/>
            <a:ext cx="765266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168" kern="0" dirty="0">
                <a:solidFill>
                  <a:srgbClr val="0079B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SCREEN 06 · EVIDENCE GRAPH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57300" y="714375"/>
            <a:ext cx="765266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12233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GRC package, unpacked and addressable</a:t>
            </a:r>
            <a:endParaRPr lang="en-US" sz="2475" dirty="0"/>
          </a:p>
        </p:txBody>
      </p:sp>
      <p:sp>
        <p:nvSpPr>
          <p:cNvPr id="7" name="Text 5"/>
          <p:cNvSpPr/>
          <p:nvPr/>
        </p:nvSpPr>
        <p:spPr>
          <a:xfrm>
            <a:off x="1257300" y="1181100"/>
            <a:ext cx="765266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C6F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SHA-256-hashed tree reaching email → zip → workbook → screenshot, four levels deep.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5966579" y="552450"/>
            <a:ext cx="1788021" cy="2095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spc="105" kern="0" dirty="0">
                <a:solidFill>
                  <a:srgbClr val="8798A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PLATFORM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25018" y="1628775"/>
            <a:ext cx="13237964" cy="8124676"/>
          </a:xfrm>
          <a:prstGeom prst="roundRect">
            <a:avLst>
              <a:gd name="adj" fmla="val 1641"/>
            </a:avLst>
          </a:prstGeom>
          <a:ln w="9525">
            <a:solidFill>
              <a:srgbClr val="D4DDE7"/>
            </a:solidFill>
            <a:prstDash val="solid"/>
          </a:ln>
          <a:effectLst>
            <a:outerShdw sx="100000" sy="100000" kx="0" ky="0" algn="bl" rotWithShape="0" blurRad="609600" dist="247650" dir="5400000">
              <a:srgbClr val="12233B">
                <a:alpha val="34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5" b="-45"/>
          <a:stretch/>
        </p:blipFill>
        <p:spPr>
          <a:xfrm>
            <a:off x="2525018" y="1628775"/>
            <a:ext cx="13237964" cy="81246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2026-08-18T21:08:45Z</dcterms:created>
  <dcterms:modified xsi:type="dcterms:W3CDTF">2026-08-18T21:08:45Z</dcterms:modified>
</cp:coreProperties>
</file>